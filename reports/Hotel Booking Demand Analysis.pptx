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Bricolage Grotesque" charset="1" panose="020B0605040402000204"/>
      <p:regular r:id="rId17"/>
    </p:embeddedFont>
    <p:embeddedFont>
      <p:font typeface="Poppins" charset="1" panose="00000500000000000000"/>
      <p:regular r:id="rId18"/>
    </p:embeddedFont>
    <p:embeddedFont>
      <p:font typeface="Poppins Bold" charset="1" panose="00000800000000000000"/>
      <p:regular r:id="rId19"/>
    </p:embeddedFont>
    <p:embeddedFont>
      <p:font typeface="Canva Sans Bold" charset="1" panose="020B0803030501040103"/>
      <p:regular r:id="rId20"/>
    </p:embeddedFont>
    <p:embeddedFont>
      <p:font typeface="Canva Sans" charset="1" panose="020B0503030501040103"/>
      <p:regular r:id="rId21"/>
    </p:embeddedFont>
    <p:embeddedFont>
      <p:font typeface="Bricolage Grotesque Bold" charset="1" panose="020B060504040200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github.com/Genrator79/E_G6_HotelBookingDemandAnalysis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https://www.kaggle.com/datasets/jessemostipak/hotel-booking-demand/data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https://public.tableau.com/views/HotelBookingDemand_17772927069120/DASHBOARD1EXECUTIVEOVERVIEW?:language=en-GB&amp;:sid=&amp;:redirect=auth&amp;:display_count=n&amp;:origin=viz_share_link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15882" cy="10287000"/>
            <a:chOff x="0" y="0"/>
            <a:chExt cx="63628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6282" cy="2709333"/>
            </a:xfrm>
            <a:custGeom>
              <a:avLst/>
              <a:gdLst/>
              <a:ahLst/>
              <a:cxnLst/>
              <a:rect r="r" b="b" t="t" l="l"/>
              <a:pathLst>
                <a:path h="2709333" w="636282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650950" y="1028700"/>
            <a:ext cx="9241467" cy="9258300"/>
          </a:xfrm>
          <a:custGeom>
            <a:avLst/>
            <a:gdLst/>
            <a:ahLst/>
            <a:cxnLst/>
            <a:rect r="r" b="b" t="t" l="l"/>
            <a:pathLst>
              <a:path h="9258300" w="9241467">
                <a:moveTo>
                  <a:pt x="0" y="0"/>
                </a:moveTo>
                <a:lnTo>
                  <a:pt x="9241467" y="0"/>
                </a:lnTo>
                <a:lnTo>
                  <a:pt x="9241467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70008" y="1232872"/>
            <a:ext cx="5996813" cy="300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7"/>
              </a:lnSpc>
            </a:pPr>
            <a:r>
              <a:rPr lang="en-US" sz="7916" spc="-506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Hotel Booking Demand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85101" y="4763436"/>
            <a:ext cx="5696631" cy="111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69"/>
              </a:lnSpc>
            </a:pPr>
            <a:r>
              <a:rPr lang="en-US" sz="2319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Driving R</a:t>
            </a:r>
            <a:r>
              <a:rPr lang="en-US" sz="2319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evenue Through Cancellation Insights | Sector: Hospitality &amp; Tourism</a:t>
            </a:r>
          </a:p>
          <a:p>
            <a:pPr algn="just">
              <a:lnSpc>
                <a:spcPts val="2969"/>
              </a:lnSpc>
            </a:pPr>
            <a:r>
              <a:rPr lang="en-US" sz="2319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Team 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85101" y="6396844"/>
            <a:ext cx="9259251" cy="376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69"/>
              </a:lnSpc>
            </a:pPr>
            <a:r>
              <a:rPr lang="en-US" sz="2319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GitH</a:t>
            </a:r>
            <a:r>
              <a:rPr lang="en-US" sz="2319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ub: </a:t>
            </a:r>
            <a:r>
              <a:rPr lang="en-US" sz="2319" spc="-6" u="sng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  <a:hlinkClick r:id="rId4" tooltip="https://github.com/Genrator79/E_G6_HotelBookingDemandAnalysis"/>
              </a:rPr>
              <a:t>Github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01274"/>
            <a:ext cx="10989952" cy="2699444"/>
            <a:chOff x="0" y="0"/>
            <a:chExt cx="14653269" cy="359925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304088" y="200025"/>
              <a:ext cx="14349181" cy="3399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3"/>
                </a:lnSpc>
              </a:pPr>
              <a:r>
                <a:rPr lang="en-US" sz="9799" spc="-627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Context &amp; Problem Statement</a:t>
              </a:r>
            </a:p>
          </p:txBody>
        </p:sp>
        <p:grpSp>
          <p:nvGrpSpPr>
            <p:cNvPr name="Group 4" id="4"/>
            <p:cNvGrpSpPr/>
            <p:nvPr/>
          </p:nvGrpSpPr>
          <p:grpSpPr>
            <a:xfrm rot="0">
              <a:off x="0" y="439184"/>
              <a:ext cx="63500" cy="2720890"/>
              <a:chOff x="0" y="0"/>
              <a:chExt cx="12543" cy="53746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2543" cy="537460"/>
              </a:xfrm>
              <a:custGeom>
                <a:avLst/>
                <a:gdLst/>
                <a:ahLst/>
                <a:cxnLst/>
                <a:rect r="r" b="b" t="t" l="l"/>
                <a:pathLst>
                  <a:path h="537460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537460"/>
                    </a:lnTo>
                    <a:lnTo>
                      <a:pt x="0" y="537460"/>
                    </a:lnTo>
                    <a:close/>
                  </a:path>
                </a:pathLst>
              </a:custGeom>
              <a:solidFill>
                <a:srgbClr val="3A58E4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2543" cy="5755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1028700" y="3334067"/>
            <a:ext cx="8201025" cy="379246"/>
            <a:chOff x="0" y="0"/>
            <a:chExt cx="10934700" cy="50566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9061"/>
              <a:ext cx="10820400" cy="554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8"/>
                </a:lnSpc>
              </a:pPr>
              <a:r>
                <a:rPr lang="en-US" b="true" sz="2370" spc="-5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OVERVIEW OF PROJECT SCOPE AND BUSINESS PURPOSE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-8687136">
              <a:off x="10617680" y="44820"/>
              <a:ext cx="252200" cy="304858"/>
            </a:xfrm>
            <a:custGeom>
              <a:avLst/>
              <a:gdLst/>
              <a:ahLst/>
              <a:cxnLst/>
              <a:rect r="r" b="b" t="t" l="l"/>
              <a:pathLst>
                <a:path h="304858" w="252200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3646639"/>
            <a:ext cx="8201025" cy="27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7"/>
              </a:lnSpc>
            </a:pPr>
            <a:r>
              <a:rPr lang="en-US" sz="2219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Booking cancellations are significantly </a:t>
            </a:r>
            <a:r>
              <a:rPr lang="en-US" sz="2219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impacting hotel revenue, leading to financial losses and demand uncertainty.</a:t>
            </a:r>
          </a:p>
          <a:p>
            <a:pPr algn="just">
              <a:lnSpc>
                <a:spcPts val="3107"/>
              </a:lnSpc>
            </a:pPr>
          </a:p>
          <a:p>
            <a:pPr algn="just">
              <a:lnSpc>
                <a:spcPts val="3107"/>
              </a:lnSpc>
            </a:pPr>
            <a:r>
              <a:rPr lang="en-US" sz="2219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The objective is to identify key drivers of cancellations and recommend data-driven strategies to reduce revenue leakage and improve booking stability.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438046" y="0"/>
            <a:ext cx="1849954" cy="1848166"/>
            <a:chOff x="0" y="0"/>
            <a:chExt cx="787566" cy="7868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7566" cy="786805"/>
            </a:xfrm>
            <a:custGeom>
              <a:avLst/>
              <a:gdLst/>
              <a:ahLst/>
              <a:cxnLst/>
              <a:rect r="r" b="b" t="t" l="l"/>
              <a:pathLst>
                <a:path h="786805" w="787566">
                  <a:moveTo>
                    <a:pt x="0" y="0"/>
                  </a:moveTo>
                  <a:lnTo>
                    <a:pt x="787566" y="0"/>
                  </a:lnTo>
                  <a:lnTo>
                    <a:pt x="787566" y="786805"/>
                  </a:lnTo>
                  <a:lnTo>
                    <a:pt x="0" y="786805"/>
                  </a:lnTo>
                  <a:close/>
                </a:path>
              </a:pathLst>
            </a:custGeom>
            <a:gradFill rotWithShape="true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87566" cy="824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699076" y="2667095"/>
            <a:ext cx="6560224" cy="6591205"/>
          </a:xfrm>
          <a:custGeom>
            <a:avLst/>
            <a:gdLst/>
            <a:ahLst/>
            <a:cxnLst/>
            <a:rect r="r" b="b" t="t" l="l"/>
            <a:pathLst>
              <a:path h="6591205" w="6560224">
                <a:moveTo>
                  <a:pt x="0" y="0"/>
                </a:moveTo>
                <a:lnTo>
                  <a:pt x="6560224" y="0"/>
                </a:lnTo>
                <a:lnTo>
                  <a:pt x="6560224" y="6591205"/>
                </a:lnTo>
                <a:lnTo>
                  <a:pt x="0" y="65912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63290" y="7897295"/>
            <a:ext cx="4165922" cy="199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3A58E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 Business Issue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3A58E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Drivers of Cancellations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3A58E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Deposit Policy Impact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3A58E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Lead Time Effect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3A58E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Hotel Type Variation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3A58E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Pricing Sensitivity (ADR Impact)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7023741"/>
            <a:ext cx="8201025" cy="777992"/>
            <a:chOff x="0" y="0"/>
            <a:chExt cx="10934700" cy="1037323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76200"/>
              <a:ext cx="10820400" cy="1113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8"/>
                </a:lnSpc>
              </a:pPr>
              <a:r>
                <a:rPr lang="en-US" b="true" sz="2370" spc="-5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AI-DRIVEN ANALYTICAL SUMMARY (BASED ON DASHBOARD INSIGHTS)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-8687136">
              <a:off x="10617680" y="576481"/>
              <a:ext cx="252200" cy="304858"/>
            </a:xfrm>
            <a:custGeom>
              <a:avLst/>
              <a:gdLst/>
              <a:ahLst/>
              <a:cxnLst/>
              <a:rect r="r" b="b" t="t" l="l"/>
              <a:pathLst>
                <a:path h="304858" w="252200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351536" y="7897295"/>
            <a:ext cx="3187526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3A58E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Customer Loyalty Gap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3A58E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Interpretation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3A58E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Decision Direction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3A58E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6558" y="827833"/>
            <a:ext cx="68273" cy="2040668"/>
            <a:chOff x="0" y="0"/>
            <a:chExt cx="17981" cy="5374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81" cy="537460"/>
            </a:xfrm>
            <a:custGeom>
              <a:avLst/>
              <a:gdLst/>
              <a:ahLst/>
              <a:cxnLst/>
              <a:rect r="r" b="b" t="t" l="l"/>
              <a:pathLst>
                <a:path h="537460" w="17981">
                  <a:moveTo>
                    <a:pt x="0" y="0"/>
                  </a:moveTo>
                  <a:lnTo>
                    <a:pt x="17981" y="0"/>
                  </a:lnTo>
                  <a:lnTo>
                    <a:pt x="17981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981" cy="575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8687136">
            <a:off x="15580115" y="4542838"/>
            <a:ext cx="189150" cy="228643"/>
          </a:xfrm>
          <a:custGeom>
            <a:avLst/>
            <a:gdLst/>
            <a:ahLst/>
            <a:cxnLst/>
            <a:rect r="r" b="b" t="t" l="l"/>
            <a:pathLst>
              <a:path h="228643" w="189150">
                <a:moveTo>
                  <a:pt x="0" y="0"/>
                </a:moveTo>
                <a:lnTo>
                  <a:pt x="189150" y="0"/>
                </a:lnTo>
                <a:lnTo>
                  <a:pt x="189150" y="228644"/>
                </a:lnTo>
                <a:lnTo>
                  <a:pt x="0" y="228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438046" y="0"/>
            <a:ext cx="1849954" cy="1848166"/>
            <a:chOff x="0" y="0"/>
            <a:chExt cx="2466605" cy="2464222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19164" y="694049"/>
              <a:ext cx="1828278" cy="1199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40030" y="1057851"/>
            <a:ext cx="10174997" cy="1723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3"/>
              </a:lnSpc>
            </a:pPr>
            <a:r>
              <a:rPr lang="en-US" sz="6799" spc="-435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Data Engineering — Source to Pipeline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6558" y="3263606"/>
            <a:ext cx="7325824" cy="238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87"/>
              </a:lnSpc>
            </a:pPr>
            <a:r>
              <a:rPr lang="en-US" b="true" sz="2419" spc="-7">
                <a:solidFill>
                  <a:srgbClr val="3A58E4"/>
                </a:solidFill>
                <a:latin typeface="Poppins Bold"/>
                <a:ea typeface="Poppins Bold"/>
                <a:cs typeface="Poppins Bold"/>
                <a:sym typeface="Poppins Bold"/>
              </a:rPr>
              <a:t>▶ Source Dataset</a:t>
            </a:r>
          </a:p>
          <a:p>
            <a:pPr algn="just" marL="479272" indent="-239636" lvl="1">
              <a:lnSpc>
                <a:spcPts val="3107"/>
              </a:lnSpc>
              <a:buFont typeface="Arial"/>
              <a:buChar char="•"/>
            </a:pPr>
            <a:r>
              <a:rPr lang="en-US" sz="2219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• Name: Hotel Book</a:t>
            </a:r>
            <a:r>
              <a:rPr lang="en-US" sz="2219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ings Demand (Kaggle)</a:t>
            </a:r>
          </a:p>
          <a:p>
            <a:pPr algn="just" marL="479272" indent="-239636" lvl="1">
              <a:lnSpc>
                <a:spcPts val="3107"/>
              </a:lnSpc>
              <a:buFont typeface="Arial"/>
              <a:buChar char="•"/>
            </a:pPr>
            <a:r>
              <a:rPr lang="en-US" sz="2219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sz="2219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Size: 119,390 rows × 32 columns</a:t>
            </a:r>
          </a:p>
          <a:p>
            <a:pPr algn="just" marL="479272" indent="-239636" lvl="1">
              <a:lnSpc>
                <a:spcPts val="3107"/>
              </a:lnSpc>
              <a:buFont typeface="Arial"/>
              <a:buChar char="•"/>
            </a:pPr>
            <a:r>
              <a:rPr lang="en-US" sz="2219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• Period: July 2015 – August 2017</a:t>
            </a:r>
          </a:p>
          <a:p>
            <a:pPr algn="just" marL="479272" indent="-239636" lvl="1">
              <a:lnSpc>
                <a:spcPts val="3107"/>
              </a:lnSpc>
              <a:buFont typeface="Arial"/>
              <a:buChar char="•"/>
            </a:pPr>
            <a:r>
              <a:rPr lang="en-US" sz="2219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• Hotels: City Hotel, Resort Hotel</a:t>
            </a:r>
          </a:p>
          <a:p>
            <a:pPr algn="just">
              <a:lnSpc>
                <a:spcPts val="3107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62951" y="5700446"/>
            <a:ext cx="17525049" cy="309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6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▶ </a:t>
            </a:r>
            <a:r>
              <a:rPr lang="en-US" b="true" sz="2499">
                <a:solidFill>
                  <a:srgbClr val="16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 ETL: Major Cleaning Steps: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3550C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Handling Missing Values in 'children' column</a:t>
            </a:r>
            <a:r>
              <a:rPr lang="en-US" sz="1899">
                <a:solidFill>
                  <a:srgbClr val="3550CE"/>
                </a:solidFill>
                <a:latin typeface="Canva Sans"/>
                <a:ea typeface="Canva Sans"/>
                <a:cs typeface="Canva Sans"/>
                <a:sym typeface="Canva Sans"/>
              </a:rPr>
              <a:t>: Filled missing values with 0, assuming no children were present.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3550C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Handling Missing Values in 'country' column</a:t>
            </a:r>
            <a:r>
              <a:rPr lang="en-US" sz="1899">
                <a:solidFill>
                  <a:srgbClr val="3550CE"/>
                </a:solidFill>
                <a:latin typeface="Canva Sans"/>
                <a:ea typeface="Canva Sans"/>
                <a:cs typeface="Canva Sans"/>
                <a:sym typeface="Canva Sans"/>
              </a:rPr>
              <a:t>: Filled missing values with 'Unknown' to retain records without introducing bias.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3550C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Dropping Columns with Excessive Missing Values</a:t>
            </a:r>
            <a:r>
              <a:rPr lang="en-US" sz="1899">
                <a:solidFill>
                  <a:srgbClr val="3550CE"/>
                </a:solidFill>
                <a:latin typeface="Canva Sans"/>
                <a:ea typeface="Canva Sans"/>
                <a:cs typeface="Canva Sans"/>
                <a:sym typeface="Canva Sans"/>
              </a:rPr>
              <a:t>: Dropped agent and company columns due to a large number of missing values (16,340 and 112,593 respectively), making them unreliable for analysis.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3550C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Type Conversion</a:t>
            </a:r>
            <a:r>
              <a:rPr lang="en-US" sz="1899">
                <a:solidFill>
                  <a:srgbClr val="3550CE"/>
                </a:solidFill>
                <a:latin typeface="Canva Sans"/>
                <a:ea typeface="Canva Sans"/>
                <a:cs typeface="Canva Sans"/>
                <a:sym typeface="Canva Sans"/>
              </a:rPr>
              <a:t>: Converted the reservation_status_date column to datetime format for proper time-based analysis.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3550C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 Engineering</a:t>
            </a:r>
            <a:r>
              <a:rPr lang="en-US" sz="1899">
                <a:solidFill>
                  <a:srgbClr val="3550CE"/>
                </a:solidFill>
                <a:latin typeface="Canva Sans"/>
                <a:ea typeface="Canva Sans"/>
                <a:cs typeface="Canva Sans"/>
                <a:sym typeface="Canva Sans"/>
              </a:rPr>
              <a:t>: Created two new features: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3550C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total_stay</a:t>
            </a:r>
            <a:r>
              <a:rPr lang="en-US" sz="1899">
                <a:solidFill>
                  <a:srgbClr val="3550CE"/>
                </a:solidFill>
                <a:latin typeface="Canva Sans"/>
                <a:ea typeface="Canva Sans"/>
                <a:cs typeface="Canva Sans"/>
                <a:sym typeface="Canva Sans"/>
              </a:rPr>
              <a:t>: Calculated as stays_in_weekend_nights + stays_in_week_nights.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3550C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revenue</a:t>
            </a:r>
            <a:r>
              <a:rPr lang="en-US" sz="1899">
                <a:solidFill>
                  <a:srgbClr val="3550CE"/>
                </a:solidFill>
                <a:latin typeface="Canva Sans"/>
                <a:ea typeface="Canva Sans"/>
                <a:cs typeface="Canva Sans"/>
                <a:sym typeface="Canva Sans"/>
              </a:rPr>
              <a:t>: Calculated as adr * total_stay.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40109" y="3762947"/>
            <a:ext cx="995489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Kaggle -  </a:t>
            </a:r>
            <a:r>
              <a:rPr lang="en-US" sz="18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www.kaggle.com/datasets/jessemostipak/hotel-booking-demand/data"/>
              </a:rPr>
              <a:t>https://www.kaggle.com/datasets/jessemostipak/hotel-booking-demand/data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5447" y="513467"/>
            <a:ext cx="47625" cy="2040668"/>
            <a:chOff x="0" y="0"/>
            <a:chExt cx="12543" cy="5374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65447" y="4461395"/>
            <a:ext cx="4437608" cy="435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8"/>
              </a:lnSpc>
            </a:pPr>
            <a:r>
              <a:rPr lang="en-US" b="true" sz="2370" spc="-59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KEY KPIS &amp; THEIR BUSINESS USE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2529" y="1074958"/>
            <a:ext cx="11168325" cy="108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3"/>
              </a:lnSpc>
            </a:pPr>
            <a:r>
              <a:rPr lang="en-US" sz="8299" spc="-531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KPI &amp; Metrics Framework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5447" y="4987100"/>
            <a:ext cx="6849070" cy="414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84"/>
              </a:lnSpc>
            </a:pPr>
            <a:r>
              <a:rPr lang="en-US" b="true" sz="1560" spc="-4">
                <a:solidFill>
                  <a:srgbClr val="3A58E4"/>
                </a:solidFill>
                <a:latin typeface="Poppins Bold"/>
                <a:ea typeface="Poppins Bold"/>
                <a:cs typeface="Poppins Bold"/>
                <a:sym typeface="Poppins Bold"/>
              </a:rPr>
              <a:t>Revenue KPIs</a:t>
            </a:r>
          </a:p>
          <a:p>
            <a:pPr algn="just" marL="336893" indent="-168447" lvl="1">
              <a:lnSpc>
                <a:spcPts val="2184"/>
              </a:lnSpc>
              <a:buFont typeface="Arial"/>
              <a:buChar char="•"/>
            </a:pP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Total Revenue → Overall business performance</a:t>
            </a:r>
          </a:p>
          <a:p>
            <a:pPr algn="just" marL="336893" indent="-168447" lvl="1">
              <a:lnSpc>
                <a:spcPts val="2184"/>
              </a:lnSpc>
              <a:buFont typeface="Arial"/>
              <a:buChar char="•"/>
            </a:pP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Revenue Realized → Actual earnings after cancellations</a:t>
            </a:r>
          </a:p>
          <a:p>
            <a:pPr algn="just" marL="336893" indent="-168447" lvl="1">
              <a:lnSpc>
                <a:spcPts val="2184"/>
              </a:lnSpc>
              <a:buFont typeface="Arial"/>
              <a:buChar char="•"/>
            </a:pP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Revenue Loss → Fin</a:t>
            </a: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ancial impact of cancellations</a:t>
            </a:r>
          </a:p>
          <a:p>
            <a:pPr algn="just" marL="336893" indent="-168447" lvl="1">
              <a:lnSpc>
                <a:spcPts val="2184"/>
              </a:lnSpc>
              <a:buFont typeface="Arial"/>
              <a:buChar char="•"/>
            </a:pP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ADR (Avg. Daily Rate) → Pricing effectiveness</a:t>
            </a:r>
          </a:p>
          <a:p>
            <a:pPr algn="just">
              <a:lnSpc>
                <a:spcPts val="2184"/>
              </a:lnSpc>
            </a:pPr>
            <a:r>
              <a:rPr lang="en-US" b="true" sz="1560" spc="-4">
                <a:solidFill>
                  <a:srgbClr val="3A58E4"/>
                </a:solidFill>
                <a:latin typeface="Poppins Bold"/>
                <a:ea typeface="Poppins Bold"/>
                <a:cs typeface="Poppins Bold"/>
                <a:sym typeface="Poppins Bold"/>
              </a:rPr>
              <a:t>Demand &amp; Booking KPIs</a:t>
            </a:r>
          </a:p>
          <a:p>
            <a:pPr algn="just" marL="336893" indent="-168447" lvl="1">
              <a:lnSpc>
                <a:spcPts val="2184"/>
              </a:lnSpc>
              <a:buFont typeface="Arial"/>
              <a:buChar char="•"/>
            </a:pP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Total Bookings → Demand volume</a:t>
            </a:r>
          </a:p>
          <a:p>
            <a:pPr algn="just" marL="336893" indent="-168447" lvl="1">
              <a:lnSpc>
                <a:spcPts val="2184"/>
              </a:lnSpc>
              <a:buFont typeface="Arial"/>
              <a:buChar char="•"/>
            </a:pP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Total Guests → Customer scale</a:t>
            </a:r>
          </a:p>
          <a:p>
            <a:pPr algn="just" marL="336893" indent="-168447" lvl="1">
              <a:lnSpc>
                <a:spcPts val="2184"/>
              </a:lnSpc>
              <a:buFont typeface="Arial"/>
              <a:buChar char="•"/>
            </a:pP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Booking Change Rate (BCR) → Booking instability indicator</a:t>
            </a:r>
          </a:p>
          <a:p>
            <a:pPr algn="just">
              <a:lnSpc>
                <a:spcPts val="2184"/>
              </a:lnSpc>
            </a:pPr>
            <a:r>
              <a:rPr lang="en-US" b="true" sz="1560" spc="-4">
                <a:solidFill>
                  <a:srgbClr val="3A58E4"/>
                </a:solidFill>
                <a:latin typeface="Poppins Bold"/>
                <a:ea typeface="Poppins Bold"/>
                <a:cs typeface="Poppins Bold"/>
                <a:sym typeface="Poppins Bold"/>
              </a:rPr>
              <a:t>Cancellation-Focused KPIs (Core Problem)</a:t>
            </a:r>
          </a:p>
          <a:p>
            <a:pPr algn="just" marL="336893" indent="-168447" lvl="1">
              <a:lnSpc>
                <a:spcPts val="2184"/>
              </a:lnSpc>
              <a:buFont typeface="Arial"/>
              <a:buChar char="•"/>
            </a:pP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Cancellation Rate → % of lost bookings</a:t>
            </a:r>
          </a:p>
          <a:p>
            <a:pPr algn="just" marL="336893" indent="-168447" lvl="1">
              <a:lnSpc>
                <a:spcPts val="2184"/>
              </a:lnSpc>
              <a:buFont typeface="Arial"/>
              <a:buChar char="•"/>
            </a:pP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Deposit Type Impact → Customer commitment &amp; cancellation risk</a:t>
            </a:r>
          </a:p>
          <a:p>
            <a:pPr algn="just" marL="336893" indent="-168447" lvl="1">
              <a:lnSpc>
                <a:spcPts val="2184"/>
              </a:lnSpc>
              <a:buFont typeface="Arial"/>
              <a:buChar char="•"/>
            </a:pP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Lead Time → Early signal of cancellation probability</a:t>
            </a:r>
          </a:p>
          <a:p>
            <a:pPr algn="just">
              <a:lnSpc>
                <a:spcPts val="2184"/>
              </a:lnSpc>
            </a:pPr>
          </a:p>
          <a:p>
            <a:pPr algn="just">
              <a:lnSpc>
                <a:spcPts val="218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477129" y="4987100"/>
            <a:ext cx="6119812" cy="1932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84"/>
              </a:lnSpc>
            </a:pPr>
            <a:r>
              <a:rPr lang="en-US" b="true" sz="1560" spc="-4">
                <a:solidFill>
                  <a:srgbClr val="3A58E4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Behavior KPIs</a:t>
            </a:r>
          </a:p>
          <a:p>
            <a:pPr algn="just" marL="336893" indent="-168447" lvl="1">
              <a:lnSpc>
                <a:spcPts val="2184"/>
              </a:lnSpc>
              <a:buFont typeface="Arial"/>
              <a:buChar char="•"/>
            </a:pP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Total Repeated Guests → Loyalty &amp; retention strength</a:t>
            </a:r>
          </a:p>
          <a:p>
            <a:pPr algn="just" marL="336893" indent="-168447" lvl="1">
              <a:lnSpc>
                <a:spcPts val="2184"/>
              </a:lnSpc>
              <a:buFont typeface="Arial"/>
              <a:buChar char="•"/>
            </a:pP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ustomer Type → Segment-level behavior differences</a:t>
            </a:r>
          </a:p>
          <a:p>
            <a:pPr algn="just" marL="336893" indent="-168447" lvl="1">
              <a:lnSpc>
                <a:spcPts val="2184"/>
              </a:lnSpc>
              <a:buFont typeface="Arial"/>
              <a:buChar char="•"/>
            </a:pP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Total Sp</a:t>
            </a: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ecial Requests → Booking</a:t>
            </a: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intent strength</a:t>
            </a:r>
          </a:p>
          <a:p>
            <a:pPr algn="just">
              <a:lnSpc>
                <a:spcPts val="2184"/>
              </a:lnSpc>
            </a:pPr>
            <a:r>
              <a:rPr lang="en-US" b="true" sz="1560" spc="-4">
                <a:solidFill>
                  <a:srgbClr val="3A58E4"/>
                </a:solidFill>
                <a:latin typeface="Poppins Bold"/>
                <a:ea typeface="Poppins Bold"/>
                <a:cs typeface="Poppins Bold"/>
                <a:sym typeface="Poppins Bold"/>
              </a:rPr>
              <a:t>Operational KPIs</a:t>
            </a:r>
          </a:p>
          <a:p>
            <a:pPr algn="just" marL="336893" indent="-168447" lvl="1">
              <a:lnSpc>
                <a:spcPts val="2184"/>
              </a:lnSpc>
              <a:buFont typeface="Arial"/>
              <a:buChar char="•"/>
            </a:pP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ALOS (Avg. Length of Stay) → Revenue stability per booking</a:t>
            </a:r>
          </a:p>
          <a:p>
            <a:pPr algn="just" marL="336893" indent="-168447" lvl="1">
              <a:lnSpc>
                <a:spcPts val="2184"/>
              </a:lnSpc>
              <a:buFont typeface="Arial"/>
              <a:buChar char="•"/>
            </a:pP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oom Assignment Discrepancy → Service quality issues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77129" y="7157892"/>
            <a:ext cx="6805590" cy="82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84"/>
              </a:lnSpc>
            </a:pPr>
            <a:r>
              <a:rPr lang="en-US" b="true" sz="1560" spc="-4">
                <a:solidFill>
                  <a:srgbClr val="3A58E4"/>
                </a:solidFill>
                <a:latin typeface="Poppins Bold"/>
                <a:ea typeface="Poppins Bold"/>
                <a:cs typeface="Poppins Bold"/>
                <a:sym typeface="Poppins Bold"/>
              </a:rPr>
              <a:t>Computation Note</a:t>
            </a:r>
          </a:p>
          <a:p>
            <a:pPr algn="just">
              <a:lnSpc>
                <a:spcPts val="2184"/>
              </a:lnSpc>
            </a:pP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ll KPIs are c</a:t>
            </a: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omput</a:t>
            </a: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ed using</a:t>
            </a:r>
            <a:r>
              <a:rPr lang="en-US" sz="1560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Python (Pandas) and validated via Tableau dashboards for segment-level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1311" y="0"/>
            <a:ext cx="546689" cy="5929076"/>
            <a:chOff x="0" y="0"/>
            <a:chExt cx="143984" cy="15615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984" cy="1561567"/>
            </a:xfrm>
            <a:custGeom>
              <a:avLst/>
              <a:gdLst/>
              <a:ahLst/>
              <a:cxnLst/>
              <a:rect r="r" b="b" t="t" l="l"/>
              <a:pathLst>
                <a:path h="1561567" w="143984">
                  <a:moveTo>
                    <a:pt x="0" y="0"/>
                  </a:moveTo>
                  <a:lnTo>
                    <a:pt x="143984" y="0"/>
                  </a:lnTo>
                  <a:lnTo>
                    <a:pt x="143984" y="1561567"/>
                  </a:lnTo>
                  <a:lnTo>
                    <a:pt x="0" y="1561567"/>
                  </a:lnTo>
                  <a:close/>
                </a:path>
              </a:pathLst>
            </a:custGeom>
            <a:gradFill rotWithShape="true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3984" cy="1599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H="true">
            <a:off x="4442685" y="0"/>
            <a:ext cx="0" cy="5929076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>
            <a:off x="8870529" y="0"/>
            <a:ext cx="1736" cy="5929076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3301844" y="0"/>
            <a:ext cx="7161" cy="5929076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-9525" y="5929076"/>
            <a:ext cx="18297525" cy="0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6305" y="9525"/>
            <a:ext cx="1197405" cy="1196248"/>
            <a:chOff x="0" y="0"/>
            <a:chExt cx="1596540" cy="1594997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596540" cy="1594997"/>
              <a:chOff x="0" y="0"/>
              <a:chExt cx="787566" cy="78680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06583" y="454809"/>
              <a:ext cx="1183375" cy="771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59"/>
                </a:lnSpc>
              </a:pPr>
              <a:r>
                <a:rPr lang="en-US" sz="4244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442685" y="9525"/>
            <a:ext cx="1197405" cy="1196248"/>
            <a:chOff x="0" y="0"/>
            <a:chExt cx="1596540" cy="159499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596540" cy="1594997"/>
              <a:chOff x="0" y="0"/>
              <a:chExt cx="787566" cy="78680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206583" y="454809"/>
              <a:ext cx="1183375" cy="771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59"/>
                </a:lnSpc>
              </a:pPr>
              <a:r>
                <a:rPr lang="en-US" sz="4244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875845" y="9525"/>
            <a:ext cx="1197405" cy="1196248"/>
            <a:chOff x="0" y="0"/>
            <a:chExt cx="1596540" cy="1594997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596540" cy="1594997"/>
              <a:chOff x="0" y="0"/>
              <a:chExt cx="787566" cy="78680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206583" y="454809"/>
              <a:ext cx="1183375" cy="771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59"/>
                </a:lnSpc>
              </a:pPr>
              <a:r>
                <a:rPr lang="en-US" sz="4244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309005" y="9525"/>
            <a:ext cx="1197405" cy="1196248"/>
            <a:chOff x="0" y="0"/>
            <a:chExt cx="1596540" cy="1594997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596540" cy="1594997"/>
              <a:chOff x="0" y="0"/>
              <a:chExt cx="787566" cy="78680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06583" y="454809"/>
              <a:ext cx="1183375" cy="771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59"/>
                </a:lnSpc>
              </a:pPr>
              <a:r>
                <a:rPr lang="en-US" sz="4244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04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625029" y="1221346"/>
            <a:ext cx="921977" cy="757697"/>
          </a:xfrm>
          <a:custGeom>
            <a:avLst/>
            <a:gdLst/>
            <a:ahLst/>
            <a:cxnLst/>
            <a:rect r="r" b="b" t="t" l="l"/>
            <a:pathLst>
              <a:path h="757697" w="921977">
                <a:moveTo>
                  <a:pt x="0" y="0"/>
                </a:moveTo>
                <a:lnTo>
                  <a:pt x="921977" y="0"/>
                </a:lnTo>
                <a:lnTo>
                  <a:pt x="921977" y="757698"/>
                </a:lnTo>
                <a:lnTo>
                  <a:pt x="0" y="757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5400000">
            <a:off x="15146454" y="1208528"/>
            <a:ext cx="757697" cy="783334"/>
          </a:xfrm>
          <a:custGeom>
            <a:avLst/>
            <a:gdLst/>
            <a:ahLst/>
            <a:cxnLst/>
            <a:rect r="r" b="b" t="t" l="l"/>
            <a:pathLst>
              <a:path h="783334" w="757697">
                <a:moveTo>
                  <a:pt x="0" y="0"/>
                </a:moveTo>
                <a:lnTo>
                  <a:pt x="757698" y="0"/>
                </a:lnTo>
                <a:lnTo>
                  <a:pt x="757698" y="783334"/>
                </a:lnTo>
                <a:lnTo>
                  <a:pt x="0" y="7833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740250" y="1221346"/>
            <a:ext cx="977364" cy="586418"/>
          </a:xfrm>
          <a:custGeom>
            <a:avLst/>
            <a:gdLst/>
            <a:ahLst/>
            <a:cxnLst/>
            <a:rect r="r" b="b" t="t" l="l"/>
            <a:pathLst>
              <a:path h="586418" w="977364">
                <a:moveTo>
                  <a:pt x="0" y="0"/>
                </a:moveTo>
                <a:lnTo>
                  <a:pt x="977364" y="0"/>
                </a:lnTo>
                <a:lnTo>
                  <a:pt x="977364" y="586418"/>
                </a:lnTo>
                <a:lnTo>
                  <a:pt x="0" y="5864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079132" y="1264166"/>
            <a:ext cx="1154611" cy="672058"/>
          </a:xfrm>
          <a:custGeom>
            <a:avLst/>
            <a:gdLst/>
            <a:ahLst/>
            <a:cxnLst/>
            <a:rect r="r" b="b" t="t" l="l"/>
            <a:pathLst>
              <a:path h="672058" w="1154611">
                <a:moveTo>
                  <a:pt x="0" y="0"/>
                </a:moveTo>
                <a:lnTo>
                  <a:pt x="1154611" y="0"/>
                </a:lnTo>
                <a:lnTo>
                  <a:pt x="1154611" y="672058"/>
                </a:lnTo>
                <a:lnTo>
                  <a:pt x="0" y="6720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509836" y="2314049"/>
            <a:ext cx="3438193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-127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CA</a:t>
            </a:r>
            <a:r>
              <a:rPr lang="en-US" b="true" sz="1999" spc="-127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NCELLATIONS ARE A MAJOR REVENUE DRAIN (~37%)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845349" y="2312234"/>
            <a:ext cx="3511528" cy="990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  <a:spcBef>
                <a:spcPct val="0"/>
              </a:spcBef>
            </a:pPr>
            <a:r>
              <a:rPr lang="en-US" b="true" sz="1878" spc="-120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CITY HOTELS FAC</a:t>
            </a:r>
            <a:r>
              <a:rPr lang="en-US" b="true" sz="1878" spc="-120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 SIGNIFICANTLY HIGHER CANCELLATION RISK THAN RESORT HOTELS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363449" y="2399689"/>
            <a:ext cx="3438193" cy="990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2"/>
              </a:lnSpc>
              <a:spcBef>
                <a:spcPct val="0"/>
              </a:spcBef>
            </a:pPr>
            <a:r>
              <a:rPr lang="en-US" b="true" sz="1880" spc="-120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LOW-COMMITMENT BOOKINGS (NO DEPOSIT) D</a:t>
            </a:r>
            <a:r>
              <a:rPr lang="en-US" b="true" sz="1880" spc="-120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RIVE THE MAJORITY OF CANCELLATIONS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793029" y="2399689"/>
            <a:ext cx="3465234" cy="65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2"/>
              </a:lnSpc>
              <a:spcBef>
                <a:spcPct val="0"/>
              </a:spcBef>
            </a:pPr>
            <a:r>
              <a:rPr lang="en-US" b="true" sz="1880" spc="-120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LONGER LEAD TIMES INCREASE CANCELLATION PROBABILITY </a:t>
            </a:r>
            <a:r>
              <a:rPr lang="en-US" b="true" sz="1880" spc="-120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10454" y="3375340"/>
            <a:ext cx="3836956" cy="194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7"/>
              </a:lnSpc>
            </a:pPr>
            <a:r>
              <a:rPr lang="en-US" sz="1869">
                <a:solidFill>
                  <a:srgbClr val="3A58E4"/>
                </a:solidFill>
                <a:latin typeface="Canva Sans"/>
                <a:ea typeface="Canva Sans"/>
                <a:cs typeface="Canva Sans"/>
                <a:sym typeface="Canva Sans"/>
              </a:rPr>
              <a:t>A significant portion of bookings are cancelled, resulting in ~$13M revenue loss, making cancellations the primary business risk.</a:t>
            </a:r>
          </a:p>
          <a:p>
            <a:pPr algn="ctr">
              <a:lnSpc>
                <a:spcPts val="2617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4737960" y="3460979"/>
            <a:ext cx="3836956" cy="194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7"/>
              </a:lnSpc>
            </a:pPr>
            <a:r>
              <a:rPr lang="en-US" sz="1869">
                <a:solidFill>
                  <a:srgbClr val="3A58E4"/>
                </a:solidFill>
                <a:latin typeface="Canva Sans"/>
                <a:ea typeface="Canva Sans"/>
                <a:cs typeface="Canva Sans"/>
                <a:sym typeface="Canva Sans"/>
              </a:rPr>
              <a:t>Urb</a:t>
            </a:r>
            <a:r>
              <a:rPr lang="en-US" sz="1869">
                <a:solidFill>
                  <a:srgbClr val="3A58E4"/>
                </a:solidFill>
                <a:latin typeface="Canva Sans"/>
                <a:ea typeface="Canva Sans"/>
                <a:cs typeface="Canva Sans"/>
                <a:sym typeface="Canva Sans"/>
              </a:rPr>
              <a:t>an properties show ~1.5× higher cancellation rates, indicating demand volatility and lower booking commitment in city segments.</a:t>
            </a:r>
          </a:p>
          <a:p>
            <a:pPr algn="ctr">
              <a:lnSpc>
                <a:spcPts val="2617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9167539" y="3460979"/>
            <a:ext cx="3836956" cy="2267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7"/>
              </a:lnSpc>
            </a:pPr>
            <a:r>
              <a:rPr lang="en-US" sz="1869">
                <a:solidFill>
                  <a:srgbClr val="3A58E4"/>
                </a:solidFill>
                <a:latin typeface="Canva Sans"/>
                <a:ea typeface="Canva Sans"/>
                <a:cs typeface="Canva Sans"/>
                <a:sym typeface="Canva Sans"/>
              </a:rPr>
              <a:t>Bookings without deposits contribute</a:t>
            </a:r>
            <a:r>
              <a:rPr lang="en-US" sz="1869">
                <a:solidFill>
                  <a:srgbClr val="3A58E4"/>
                </a:solidFill>
                <a:latin typeface="Canva Sans"/>
                <a:ea typeface="Canva Sans"/>
                <a:cs typeface="Canva Sans"/>
                <a:sym typeface="Canva Sans"/>
              </a:rPr>
              <a:t> disproportionately to cancellations, while non-refundable bookings show near-zero cancellation, highlighting pricing/booking policy impact.</a:t>
            </a:r>
          </a:p>
          <a:p>
            <a:pPr algn="ctr">
              <a:lnSpc>
                <a:spcPts val="2617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13593647" y="3460979"/>
            <a:ext cx="3836956" cy="194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7"/>
              </a:lnSpc>
            </a:pPr>
            <a:r>
              <a:rPr lang="en-US" sz="1869">
                <a:solidFill>
                  <a:srgbClr val="3A58E4"/>
                </a:solidFill>
                <a:latin typeface="Canva Sans"/>
                <a:ea typeface="Canva Sans"/>
                <a:cs typeface="Canva Sans"/>
                <a:sym typeface="Canva Sans"/>
              </a:rPr>
              <a:t>Bookings made far in advance show consiste</a:t>
            </a:r>
            <a:r>
              <a:rPr lang="en-US" sz="1869">
                <a:solidFill>
                  <a:srgbClr val="3A58E4"/>
                </a:solidFill>
                <a:latin typeface="Canva Sans"/>
                <a:ea typeface="Canva Sans"/>
                <a:cs typeface="Canva Sans"/>
                <a:sym typeface="Canva Sans"/>
              </a:rPr>
              <a:t>ntly higher cancellation rates, indicating speculative or uncertain customer intent.</a:t>
            </a:r>
          </a:p>
          <a:p>
            <a:pPr algn="ctr">
              <a:lnSpc>
                <a:spcPts val="2617"/>
              </a:lnSpc>
            </a:pPr>
          </a:p>
        </p:txBody>
      </p:sp>
      <p:sp>
        <p:nvSpPr>
          <p:cNvPr name="AutoShape 41" id="41"/>
          <p:cNvSpPr/>
          <p:nvPr/>
        </p:nvSpPr>
        <p:spPr>
          <a:xfrm>
            <a:off x="5805980" y="5929093"/>
            <a:ext cx="9525" cy="5318567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>
            <a:off x="12411312" y="5929076"/>
            <a:ext cx="0" cy="5231864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-28575" y="5929093"/>
            <a:ext cx="1197405" cy="1196248"/>
            <a:chOff x="0" y="0"/>
            <a:chExt cx="1596540" cy="1594997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1596540" cy="1594997"/>
              <a:chOff x="0" y="0"/>
              <a:chExt cx="787566" cy="786805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206583" y="454809"/>
              <a:ext cx="1183375" cy="771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59"/>
                </a:lnSpc>
              </a:pPr>
              <a:r>
                <a:rPr lang="en-US" sz="4244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05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810742" y="5929093"/>
            <a:ext cx="1197405" cy="1196248"/>
            <a:chOff x="0" y="0"/>
            <a:chExt cx="1596540" cy="1594997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1596540" cy="1594997"/>
              <a:chOff x="0" y="0"/>
              <a:chExt cx="787566" cy="786805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206583" y="454809"/>
              <a:ext cx="1183375" cy="771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59"/>
                </a:lnSpc>
              </a:pPr>
              <a:r>
                <a:rPr lang="en-US" sz="4244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06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405793" y="5929093"/>
            <a:ext cx="1197405" cy="1196248"/>
            <a:chOff x="0" y="0"/>
            <a:chExt cx="1596540" cy="1594997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1596540" cy="1594997"/>
              <a:chOff x="0" y="0"/>
              <a:chExt cx="787566" cy="786805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 rot="0">
              <a:off x="206583" y="454809"/>
              <a:ext cx="1183375" cy="771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59"/>
                </a:lnSpc>
              </a:pPr>
              <a:r>
                <a:rPr lang="en-US" sz="4244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07</a:t>
              </a: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-5400000">
            <a:off x="2558964" y="6312005"/>
            <a:ext cx="757697" cy="783334"/>
          </a:xfrm>
          <a:custGeom>
            <a:avLst/>
            <a:gdLst/>
            <a:ahLst/>
            <a:cxnLst/>
            <a:rect r="r" b="b" t="t" l="l"/>
            <a:pathLst>
              <a:path h="783334" w="757697">
                <a:moveTo>
                  <a:pt x="0" y="0"/>
                </a:moveTo>
                <a:lnTo>
                  <a:pt x="757698" y="0"/>
                </a:lnTo>
                <a:lnTo>
                  <a:pt x="757698" y="783334"/>
                </a:lnTo>
                <a:lnTo>
                  <a:pt x="0" y="7833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8786144" y="6367643"/>
            <a:ext cx="1154611" cy="672058"/>
          </a:xfrm>
          <a:custGeom>
            <a:avLst/>
            <a:gdLst/>
            <a:ahLst/>
            <a:cxnLst/>
            <a:rect r="r" b="b" t="t" l="l"/>
            <a:pathLst>
              <a:path h="672058" w="1154611">
                <a:moveTo>
                  <a:pt x="0" y="0"/>
                </a:moveTo>
                <a:lnTo>
                  <a:pt x="1154611" y="0"/>
                </a:lnTo>
                <a:lnTo>
                  <a:pt x="1154611" y="672058"/>
                </a:lnTo>
                <a:lnTo>
                  <a:pt x="0" y="6720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4939606" y="6395801"/>
            <a:ext cx="977364" cy="586418"/>
          </a:xfrm>
          <a:custGeom>
            <a:avLst/>
            <a:gdLst/>
            <a:ahLst/>
            <a:cxnLst/>
            <a:rect r="r" b="b" t="t" l="l"/>
            <a:pathLst>
              <a:path h="586418" w="977364">
                <a:moveTo>
                  <a:pt x="0" y="0"/>
                </a:moveTo>
                <a:lnTo>
                  <a:pt x="977364" y="0"/>
                </a:lnTo>
                <a:lnTo>
                  <a:pt x="977364" y="586418"/>
                </a:lnTo>
                <a:lnTo>
                  <a:pt x="0" y="5864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1" id="61"/>
          <p:cNvSpPr txBox="true"/>
          <p:nvPr/>
        </p:nvSpPr>
        <p:spPr>
          <a:xfrm rot="0">
            <a:off x="736345" y="7296791"/>
            <a:ext cx="440293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 spc="-96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HIGHER PRICING (ADR) IS LINKED TO INCREASED CA</a:t>
            </a:r>
            <a:r>
              <a:rPr lang="en-US" b="true" sz="1500" spc="-96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NCELLATIONS BEYOND A THRESHOLD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19335" y="7992116"/>
            <a:ext cx="3836956" cy="97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7"/>
              </a:lnSpc>
            </a:pPr>
            <a:r>
              <a:rPr lang="en-US" sz="1869">
                <a:solidFill>
                  <a:srgbClr val="3A58E4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1869">
                <a:solidFill>
                  <a:srgbClr val="3A58E4"/>
                </a:solidFill>
                <a:latin typeface="Canva Sans"/>
                <a:ea typeface="Canva Sans"/>
                <a:cs typeface="Canva Sans"/>
                <a:sym typeface="Canva Sans"/>
              </a:rPr>
              <a:t>igher pricing (ADR) is linked to increased cancellations beyond a threshold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966072" y="7287266"/>
            <a:ext cx="440293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 spc="-96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REPEAT CUSTOMERS AR</a:t>
            </a:r>
            <a:r>
              <a:rPr lang="en-US" b="true" sz="1500" spc="-96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 HIGHLY RELIABLE BUT UNDERUTILIZED (~3%)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195798" y="7277741"/>
            <a:ext cx="440293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 spc="-96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ONLINE TRAVEL AG</a:t>
            </a:r>
            <a:r>
              <a:rPr lang="en-US" b="true" sz="1500" spc="-96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ENTS DOMINATE BOOKINGS BUT MAY CONTRIBUTE TO INSTABILITY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471641" y="7982591"/>
            <a:ext cx="5391797" cy="1619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7"/>
              </a:lnSpc>
            </a:pPr>
            <a:r>
              <a:rPr lang="en-US" sz="1869">
                <a:solidFill>
                  <a:srgbClr val="3A58E4"/>
                </a:solidFill>
                <a:latin typeface="Canva Sans"/>
                <a:ea typeface="Canva Sans"/>
                <a:cs typeface="Canva Sans"/>
                <a:sym typeface="Canva Sans"/>
              </a:rPr>
              <a:t>A v</a:t>
            </a:r>
            <a:r>
              <a:rPr lang="en-US" sz="1869">
                <a:solidFill>
                  <a:srgbClr val="3A58E4"/>
                </a:solidFill>
                <a:latin typeface="Canva Sans"/>
                <a:ea typeface="Canva Sans"/>
                <a:cs typeface="Canva Sans"/>
                <a:sym typeface="Canva Sans"/>
              </a:rPr>
              <a:t>ery small portion of bookings come from repeat guests, yet they show significantly lower cancellation behavior, representing a missed retention opportunity.</a:t>
            </a:r>
          </a:p>
          <a:p>
            <a:pPr algn="ctr">
              <a:lnSpc>
                <a:spcPts val="2617"/>
              </a:lnSpc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13275406" y="7954016"/>
            <a:ext cx="4243720" cy="194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7"/>
              </a:lnSpc>
            </a:pPr>
            <a:r>
              <a:rPr lang="en-US" sz="1869">
                <a:solidFill>
                  <a:srgbClr val="3A58E4"/>
                </a:solidFill>
                <a:latin typeface="Canva Sans"/>
                <a:ea typeface="Canva Sans"/>
                <a:cs typeface="Canva Sans"/>
                <a:sym typeface="Canva Sans"/>
              </a:rPr>
              <a:t>Most</a:t>
            </a:r>
            <a:r>
              <a:rPr lang="en-US" sz="1869">
                <a:solidFill>
                  <a:srgbClr val="3A58E4"/>
                </a:solidFill>
                <a:latin typeface="Canva Sans"/>
                <a:ea typeface="Canva Sans"/>
                <a:cs typeface="Canva Sans"/>
                <a:sym typeface="Canva Sans"/>
              </a:rPr>
              <a:t> bookings come from online channels, which are typically associated with higher cancellation flexibility and lower customer commitment.</a:t>
            </a:r>
          </a:p>
          <a:p>
            <a:pPr algn="ctr">
              <a:lnSpc>
                <a:spcPts val="2617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28142" y="1137576"/>
            <a:ext cx="49168" cy="2590568"/>
            <a:chOff x="0" y="0"/>
            <a:chExt cx="12950" cy="6822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50" cy="682290"/>
            </a:xfrm>
            <a:custGeom>
              <a:avLst/>
              <a:gdLst/>
              <a:ahLst/>
              <a:cxnLst/>
              <a:rect r="r" b="b" t="t" l="l"/>
              <a:pathLst>
                <a:path h="682290" w="12950">
                  <a:moveTo>
                    <a:pt x="0" y="0"/>
                  </a:moveTo>
                  <a:lnTo>
                    <a:pt x="12950" y="0"/>
                  </a:lnTo>
                  <a:lnTo>
                    <a:pt x="12950" y="682290"/>
                  </a:lnTo>
                  <a:lnTo>
                    <a:pt x="0" y="68229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950" cy="720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438046" y="0"/>
            <a:ext cx="1849954" cy="1848166"/>
            <a:chOff x="0" y="0"/>
            <a:chExt cx="2466605" cy="246422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319164" y="694049"/>
              <a:ext cx="1828278" cy="1199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5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 flipH="true">
            <a:off x="6542795" y="0"/>
            <a:ext cx="0" cy="10287000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0" y="5320770"/>
            <a:ext cx="6542795" cy="0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97452" y="174137"/>
            <a:ext cx="6165930" cy="4969363"/>
            <a:chOff x="0" y="0"/>
            <a:chExt cx="955264" cy="7698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5264" cy="769884"/>
            </a:xfrm>
            <a:custGeom>
              <a:avLst/>
              <a:gdLst/>
              <a:ahLst/>
              <a:cxnLst/>
              <a:rect r="r" b="b" t="t" l="l"/>
              <a:pathLst>
                <a:path h="769884" w="955264">
                  <a:moveTo>
                    <a:pt x="0" y="0"/>
                  </a:moveTo>
                  <a:lnTo>
                    <a:pt x="955264" y="0"/>
                  </a:lnTo>
                  <a:lnTo>
                    <a:pt x="955264" y="769884"/>
                  </a:lnTo>
                  <a:lnTo>
                    <a:pt x="0" y="769884"/>
                  </a:lnTo>
                  <a:close/>
                </a:path>
              </a:pathLst>
            </a:custGeom>
            <a:blipFill>
              <a:blip r:embed="rId2"/>
              <a:stretch>
                <a:fillRect l="-70890" t="0" r="-7089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91241" y="5762818"/>
            <a:ext cx="4978352" cy="3848862"/>
            <a:chOff x="0" y="0"/>
            <a:chExt cx="6637802" cy="51318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37802" cy="5131816"/>
            </a:xfrm>
            <a:custGeom>
              <a:avLst/>
              <a:gdLst/>
              <a:ahLst/>
              <a:cxnLst/>
              <a:rect r="r" b="b" t="t" l="l"/>
              <a:pathLst>
                <a:path h="5131816" w="6637802">
                  <a:moveTo>
                    <a:pt x="0" y="0"/>
                  </a:moveTo>
                  <a:lnTo>
                    <a:pt x="6637802" y="0"/>
                  </a:lnTo>
                  <a:lnTo>
                    <a:pt x="6637802" y="5131816"/>
                  </a:lnTo>
                  <a:lnTo>
                    <a:pt x="0" y="5131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16" r="0" b="-1316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9584" y="200978"/>
              <a:ext cx="6498634" cy="4930838"/>
            </a:xfrm>
            <a:custGeom>
              <a:avLst/>
              <a:gdLst/>
              <a:ahLst/>
              <a:cxnLst/>
              <a:rect r="r" b="b" t="t" l="l"/>
              <a:pathLst>
                <a:path h="4930838" w="6498634">
                  <a:moveTo>
                    <a:pt x="0" y="0"/>
                  </a:moveTo>
                  <a:lnTo>
                    <a:pt x="6498634" y="0"/>
                  </a:lnTo>
                  <a:lnTo>
                    <a:pt x="6498634" y="4930838"/>
                  </a:lnTo>
                  <a:lnTo>
                    <a:pt x="0" y="4930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056208" y="1228725"/>
            <a:ext cx="7107541" cy="249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3"/>
              </a:lnSpc>
            </a:pPr>
            <a:r>
              <a:rPr lang="en-US" sz="9799" spc="-62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Advanced Analysis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28142" y="4347471"/>
            <a:ext cx="9168929" cy="481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Customer Segmentation (Clustering)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Grouped customers using ADR, Lead Time, Deposit Type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b="true" sz="1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</a:t>
            </a: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A specific segment (no deposit + long lead time) drives most cancellations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Root Cause Analysis (Driver Impact)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Evaluated key factors: Deposit Type, Lead Time, Hotel Type, ADR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b="true" sz="1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</a:t>
            </a: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Deposit policy and lead time have stronger impact than pricing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Hypothesis Testing (Statistical Validation)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Tested differences in cancellation behavior across segments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b="true" sz="1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Methods</a:t>
            </a: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t-test / chi-square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b="true" sz="1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</a:t>
            </a: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Higher cancellations in city hotels and no-deposit bookings are statistically significant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Predictive Patterns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Identified thresholds where cancellation risk increases (high ADR, long lead time)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b="true" sz="1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</a:t>
            </a: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Cancellations are predictable and manageable, not random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101221"/>
            <a:ext cx="47625" cy="2040668"/>
            <a:chOff x="0" y="0"/>
            <a:chExt cx="12543" cy="5374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438046" y="0"/>
            <a:ext cx="1849954" cy="1848166"/>
            <a:chOff x="0" y="0"/>
            <a:chExt cx="787566" cy="7868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7566" cy="786805"/>
            </a:xfrm>
            <a:custGeom>
              <a:avLst/>
              <a:gdLst/>
              <a:ahLst/>
              <a:cxnLst/>
              <a:rect r="r" b="b" t="t" l="l"/>
              <a:pathLst>
                <a:path h="786805" w="787566">
                  <a:moveTo>
                    <a:pt x="0" y="0"/>
                  </a:moveTo>
                  <a:lnTo>
                    <a:pt x="787566" y="0"/>
                  </a:lnTo>
                  <a:lnTo>
                    <a:pt x="787566" y="786805"/>
                  </a:lnTo>
                  <a:lnTo>
                    <a:pt x="0" y="786805"/>
                  </a:lnTo>
                  <a:close/>
                </a:path>
              </a:pathLst>
            </a:custGeom>
            <a:gradFill rotWithShape="true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87566" cy="824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451924" y="4625564"/>
            <a:ext cx="6350081" cy="3663653"/>
          </a:xfrm>
          <a:custGeom>
            <a:avLst/>
            <a:gdLst/>
            <a:ahLst/>
            <a:cxnLst/>
            <a:rect r="r" b="b" t="t" l="l"/>
            <a:pathLst>
              <a:path h="3663653" w="6350081">
                <a:moveTo>
                  <a:pt x="0" y="0"/>
                </a:moveTo>
                <a:lnTo>
                  <a:pt x="6350080" y="0"/>
                </a:lnTo>
                <a:lnTo>
                  <a:pt x="6350080" y="3663653"/>
                </a:lnTo>
                <a:lnTo>
                  <a:pt x="0" y="36636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066" r="-14310" b="-10717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70052" y="4625564"/>
            <a:ext cx="6438829" cy="3776122"/>
          </a:xfrm>
          <a:custGeom>
            <a:avLst/>
            <a:gdLst/>
            <a:ahLst/>
            <a:cxnLst/>
            <a:rect r="r" b="b" t="t" l="l"/>
            <a:pathLst>
              <a:path h="3776122" w="6438829">
                <a:moveTo>
                  <a:pt x="0" y="0"/>
                </a:moveTo>
                <a:lnTo>
                  <a:pt x="6438829" y="0"/>
                </a:lnTo>
                <a:lnTo>
                  <a:pt x="6438829" y="3776122"/>
                </a:lnTo>
                <a:lnTo>
                  <a:pt x="0" y="37761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98" t="-17179" r="-11144" b="-7507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56766" y="971858"/>
            <a:ext cx="11696936" cy="249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3"/>
              </a:lnSpc>
            </a:pPr>
            <a:r>
              <a:rPr lang="en-US" sz="9799" spc="-62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Tableau Dashboard Walkthrough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627344"/>
            <a:ext cx="5825058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2B41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Executive View (For Decision Makers)</a:t>
            </a:r>
          </a:p>
          <a:p>
            <a:pPr algn="l" marL="259083" indent="-129542" lvl="1">
              <a:lnSpc>
                <a:spcPts val="1680"/>
              </a:lnSpc>
              <a:buFont typeface="Arial"/>
              <a:buChar char="•"/>
            </a:pPr>
            <a:r>
              <a:rPr lang="en-US" sz="1200">
                <a:solidFill>
                  <a:srgbClr val="3779E3"/>
                </a:solidFill>
                <a:latin typeface="Canva Sans"/>
                <a:ea typeface="Canva Sans"/>
                <a:cs typeface="Canva Sans"/>
                <a:sym typeface="Canva Sans"/>
              </a:rPr>
              <a:t>High-level snapshot of Total Revenue, Revenue Loss, Cancellation Rate, ADR</a:t>
            </a:r>
          </a:p>
          <a:p>
            <a:pPr algn="l" marL="259083" indent="-129542" lvl="1">
              <a:lnSpc>
                <a:spcPts val="1680"/>
              </a:lnSpc>
              <a:buFont typeface="Arial"/>
              <a:buChar char="•"/>
            </a:pPr>
            <a:r>
              <a:rPr lang="en-US" sz="1200">
                <a:solidFill>
                  <a:srgbClr val="3779E3"/>
                </a:solidFill>
                <a:latin typeface="Canva Sans"/>
                <a:ea typeface="Canva Sans"/>
                <a:cs typeface="Canva Sans"/>
                <a:sym typeface="Canva Sans"/>
              </a:rPr>
              <a:t>Quickly highlights business performance and financial risk</a:t>
            </a:r>
          </a:p>
          <a:p>
            <a:pPr algn="l" marL="259083" indent="-129542" lvl="1">
              <a:lnSpc>
                <a:spcPts val="1680"/>
              </a:lnSpc>
              <a:buFont typeface="Arial"/>
              <a:buChar char="•"/>
            </a:pPr>
            <a:r>
              <a:rPr lang="en-US" sz="1200">
                <a:solidFill>
                  <a:srgbClr val="3779E3"/>
                </a:solidFill>
                <a:latin typeface="Canva Sans"/>
                <a:ea typeface="Canva Sans"/>
                <a:cs typeface="Canva Sans"/>
                <a:sym typeface="Canva Sans"/>
              </a:rPr>
              <a:t>Designed for fast decision-making (CEO-level view)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51924" y="3627344"/>
            <a:ext cx="5501060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2B41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</a:t>
            </a:r>
            <a:r>
              <a:rPr lang="en-US" b="true" sz="1200">
                <a:solidFill>
                  <a:srgbClr val="2B41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erational View (For Analysts)</a:t>
            </a:r>
          </a:p>
          <a:p>
            <a:pPr algn="l" marL="259083" indent="-129542" lvl="1">
              <a:lnSpc>
                <a:spcPts val="1680"/>
              </a:lnSpc>
              <a:buFont typeface="Arial"/>
              <a:buChar char="•"/>
            </a:pPr>
            <a:r>
              <a:rPr lang="en-US" sz="1200">
                <a:solidFill>
                  <a:srgbClr val="3779E3"/>
                </a:solidFill>
                <a:latin typeface="Canva Sans"/>
                <a:ea typeface="Canva Sans"/>
                <a:cs typeface="Canva Sans"/>
                <a:sym typeface="Canva Sans"/>
              </a:rPr>
              <a:t>Dr</a:t>
            </a:r>
            <a:r>
              <a:rPr lang="en-US" sz="1200">
                <a:solidFill>
                  <a:srgbClr val="3779E3"/>
                </a:solidFill>
                <a:latin typeface="Canva Sans"/>
                <a:ea typeface="Canva Sans"/>
                <a:cs typeface="Canva Sans"/>
                <a:sym typeface="Canva Sans"/>
              </a:rPr>
              <a:t>ill-down by Hotel Type, Deposit Type, Lead Time, Customer Segments</a:t>
            </a:r>
          </a:p>
          <a:p>
            <a:pPr algn="l" marL="259083" indent="-129542" lvl="1">
              <a:lnSpc>
                <a:spcPts val="1680"/>
              </a:lnSpc>
              <a:buFont typeface="Arial"/>
              <a:buChar char="•"/>
            </a:pPr>
            <a:r>
              <a:rPr lang="en-US" sz="1200">
                <a:solidFill>
                  <a:srgbClr val="3779E3"/>
                </a:solidFill>
                <a:latin typeface="Canva Sans"/>
                <a:ea typeface="Canva Sans"/>
                <a:cs typeface="Canva Sans"/>
                <a:sym typeface="Canva Sans"/>
              </a:rPr>
              <a:t>Enables identification of high-risk bookings and cancellation drivers</a:t>
            </a:r>
          </a:p>
          <a:p>
            <a:pPr algn="l" marL="259083" indent="-129542" lvl="1">
              <a:lnSpc>
                <a:spcPts val="1680"/>
              </a:lnSpc>
              <a:buFont typeface="Arial"/>
              <a:buChar char="•"/>
            </a:pPr>
            <a:r>
              <a:rPr lang="en-US" sz="1200">
                <a:solidFill>
                  <a:srgbClr val="3779E3"/>
                </a:solidFill>
                <a:latin typeface="Canva Sans"/>
                <a:ea typeface="Canva Sans"/>
                <a:cs typeface="Canva Sans"/>
                <a:sym typeface="Canva Sans"/>
              </a:rPr>
              <a:t>Supports root cause analysis and action planning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7360" y="9286875"/>
            <a:ext cx="1287587" cy="240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800" spc="-115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Link -  </a:t>
            </a:r>
            <a:r>
              <a:rPr lang="en-US" sz="1800" spc="-115" u="sng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  <a:hlinkClick r:id="rId4" tooltip="https://public.tableau.com/views/HotelBookingDemand_17772927069120/DASHBOARD1EXECUTIVEOVERVIEW?:language=en-GB&amp;:sid=&amp;:redirect=auth&amp;:display_count=n&amp;:origin=viz_share_link"/>
              </a:rPr>
              <a:t>Tableau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897820" cy="10287000"/>
            <a:chOff x="0" y="0"/>
            <a:chExt cx="102658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658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26586">
                  <a:moveTo>
                    <a:pt x="0" y="0"/>
                  </a:moveTo>
                  <a:lnTo>
                    <a:pt x="1026586" y="0"/>
                  </a:lnTo>
                  <a:lnTo>
                    <a:pt x="102658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2658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031615" y="1028700"/>
            <a:ext cx="11560701" cy="1528202"/>
            <a:chOff x="0" y="0"/>
            <a:chExt cx="15414269" cy="203760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12211164" cy="523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74"/>
                </a:lnSpc>
              </a:pPr>
              <a:r>
                <a:rPr lang="en-US" b="true" sz="2267" spc="-56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INTRODUCE TIERED DEPOSIT POLICIES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02665"/>
              <a:ext cx="15414269" cy="1434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46325" indent="-223163" lvl="1">
                <a:lnSpc>
                  <a:spcPts val="2894"/>
                </a:lnSpc>
                <a:buFont typeface="Arial"/>
                <a:buChar char="•"/>
              </a:pPr>
              <a:r>
                <a:rPr lang="en-US" sz="2067" spc="-5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Apply mandatory or partial deposits for high-risk bookings (long lead time, city hotels)</a:t>
              </a:r>
            </a:p>
            <a:p>
              <a:pPr algn="just" marL="446325" indent="-223163" lvl="1">
                <a:lnSpc>
                  <a:spcPts val="2894"/>
                </a:lnSpc>
                <a:buFont typeface="Arial"/>
                <a:buChar char="•"/>
              </a:pPr>
              <a:r>
                <a:rPr lang="en-US" sz="2067" spc="-5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Reduces speculative bookings and last-minute cancellations</a:t>
              </a:r>
            </a:p>
            <a:p>
              <a:pPr algn="just">
                <a:lnSpc>
                  <a:spcPts val="289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72356" y="872134"/>
            <a:ext cx="2753109" cy="360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2684" spc="-17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Recommendations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031615" y="2556902"/>
            <a:ext cx="11560701" cy="1528202"/>
            <a:chOff x="0" y="0"/>
            <a:chExt cx="15414269" cy="203760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12211164" cy="523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74"/>
                </a:lnSpc>
              </a:pPr>
              <a:r>
                <a:rPr lang="en-US" b="true" sz="2267" spc="-56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DYNAMIC PRICING BASED ON CANCELLATION RISK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02665"/>
              <a:ext cx="15414269" cy="1434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46325" indent="-223163" lvl="1">
                <a:lnSpc>
                  <a:spcPts val="2894"/>
                </a:lnSpc>
                <a:buFont typeface="Arial"/>
                <a:buChar char="•"/>
              </a:pPr>
              <a:r>
                <a:rPr lang="en-US" sz="2067" spc="-5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Adjust ADR for high-risk segments (offer incentives for non-r</a:t>
              </a:r>
              <a:r>
                <a:rPr lang="en-US" sz="2067" spc="-5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efundable plans)</a:t>
              </a:r>
            </a:p>
            <a:p>
              <a:pPr algn="just" marL="446325" indent="-223163" lvl="1">
                <a:lnSpc>
                  <a:spcPts val="2894"/>
                </a:lnSpc>
                <a:buFont typeface="Arial"/>
                <a:buChar char="•"/>
              </a:pPr>
              <a:r>
                <a:rPr lang="en-US" sz="2067" spc="-5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Balance occupancy vs revenue stability</a:t>
              </a:r>
            </a:p>
            <a:p>
              <a:pPr algn="just">
                <a:lnSpc>
                  <a:spcPts val="289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031615" y="4085104"/>
            <a:ext cx="11560701" cy="1528202"/>
            <a:chOff x="0" y="0"/>
            <a:chExt cx="15414269" cy="203760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12211164" cy="523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74"/>
                </a:lnSpc>
              </a:pPr>
              <a:r>
                <a:rPr lang="en-US" b="true" sz="2267" spc="-56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OPTIMIZE LEAD TIME STRATEGY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602665"/>
              <a:ext cx="15414269" cy="1434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46325" indent="-223163" lvl="1">
                <a:lnSpc>
                  <a:spcPts val="2894"/>
                </a:lnSpc>
                <a:buFont typeface="Arial"/>
                <a:buChar char="•"/>
              </a:pPr>
              <a:r>
                <a:rPr lang="en-US" sz="2067" spc="-5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Limit or incentivize shorter booking windows</a:t>
              </a:r>
            </a:p>
            <a:p>
              <a:pPr algn="just" marL="446325" indent="-223163" lvl="1">
                <a:lnSpc>
                  <a:spcPts val="2894"/>
                </a:lnSpc>
                <a:buFont typeface="Arial"/>
                <a:buChar char="•"/>
              </a:pPr>
              <a:r>
                <a:rPr lang="en-US" sz="2067" spc="-5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Offer discounts for clos</a:t>
              </a:r>
              <a:r>
                <a:rPr lang="en-US" sz="2067" spc="-5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er-to-date bookings to reduce uncertainty</a:t>
              </a:r>
            </a:p>
            <a:p>
              <a:pPr algn="just">
                <a:lnSpc>
                  <a:spcPts val="289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031615" y="5613307"/>
            <a:ext cx="11560701" cy="1528202"/>
            <a:chOff x="0" y="0"/>
            <a:chExt cx="15414269" cy="203760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12211164" cy="523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74"/>
                </a:lnSpc>
              </a:pPr>
              <a:r>
                <a:rPr lang="en-US" b="true" sz="2267" spc="-56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STRENGTHEN LOYALTY PROGRAMS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602665"/>
              <a:ext cx="15414269" cy="1434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46325" indent="-223163" lvl="1">
                <a:lnSpc>
                  <a:spcPts val="2894"/>
                </a:lnSpc>
                <a:buFont typeface="Arial"/>
                <a:buChar char="•"/>
              </a:pPr>
              <a:r>
                <a:rPr lang="en-US" sz="2067" spc="-5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Target repeat customers with exclusive offers</a:t>
              </a:r>
            </a:p>
            <a:p>
              <a:pPr algn="just" marL="446325" indent="-223163" lvl="1">
                <a:lnSpc>
                  <a:spcPts val="2894"/>
                </a:lnSpc>
                <a:buFont typeface="Arial"/>
                <a:buChar char="•"/>
              </a:pPr>
              <a:r>
                <a:rPr lang="en-US" sz="2067" spc="-5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In</a:t>
              </a:r>
              <a:r>
                <a:rPr lang="en-US" sz="2067" spc="-5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crease share of low-cancellation, high-value guests</a:t>
              </a:r>
            </a:p>
            <a:p>
              <a:pPr algn="just">
                <a:lnSpc>
                  <a:spcPts val="289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031615" y="7141509"/>
            <a:ext cx="11560701" cy="1528202"/>
            <a:chOff x="0" y="0"/>
            <a:chExt cx="15414269" cy="203760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66675"/>
              <a:ext cx="12211164" cy="523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74"/>
                </a:lnSpc>
              </a:pPr>
              <a:r>
                <a:rPr lang="en-US" b="true" sz="2267" spc="-56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CHANNEL OPTIMIZATION (REDUCE OTA DEPENDENCY)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602665"/>
              <a:ext cx="15414269" cy="1434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46325" indent="-223163" lvl="1">
                <a:lnSpc>
                  <a:spcPts val="2894"/>
                </a:lnSpc>
                <a:buFont typeface="Arial"/>
                <a:buChar char="•"/>
              </a:pPr>
              <a:r>
                <a:rPr lang="en-US" sz="2067" spc="-5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Encourage direct bookings via website incentives</a:t>
              </a:r>
            </a:p>
            <a:p>
              <a:pPr algn="just" marL="446325" indent="-223163" lvl="1">
                <a:lnSpc>
                  <a:spcPts val="2894"/>
                </a:lnSpc>
                <a:buFont typeface="Arial"/>
                <a:buChar char="•"/>
              </a:pPr>
              <a:r>
                <a:rPr lang="en-US" sz="2067" spc="-5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Reduce reliance on channels with high cancellation flexibility</a:t>
              </a:r>
            </a:p>
            <a:p>
              <a:pPr algn="just">
                <a:lnSpc>
                  <a:spcPts val="2894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848166"/>
            <a:ext cx="9144000" cy="7410134"/>
            <a:chOff x="0" y="0"/>
            <a:chExt cx="2408296" cy="1951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1951640"/>
            </a:xfrm>
            <a:custGeom>
              <a:avLst/>
              <a:gdLst/>
              <a:ahLst/>
              <a:cxnLst/>
              <a:rect r="r" b="b" t="t" l="l"/>
              <a:pathLst>
                <a:path h="1951640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1951640"/>
                  </a:lnTo>
                  <a:lnTo>
                    <a:pt x="0" y="1951640"/>
                  </a:lnTo>
                  <a:close/>
                </a:path>
              </a:pathLst>
            </a:custGeom>
            <a:solidFill>
              <a:srgbClr val="162C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08296" cy="1989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63658" y="200025"/>
            <a:ext cx="11560683" cy="1292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3"/>
              </a:lnSpc>
            </a:pPr>
            <a:r>
              <a:rPr lang="en-US" sz="9799" spc="-62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Impact Value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2657" y="2959843"/>
            <a:ext cx="6592119" cy="544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8"/>
              </a:lnSpc>
            </a:pPr>
            <a:r>
              <a:rPr lang="en-US" b="true" sz="22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Reduce Cancellation Rate by 8–12%</a:t>
            </a:r>
          </a:p>
          <a:p>
            <a:pPr algn="just">
              <a:lnSpc>
                <a:spcPts val="3088"/>
              </a:lnSpc>
              <a:spcBef>
                <a:spcPct val="0"/>
              </a:spcBef>
            </a:pPr>
            <a:r>
              <a:rPr lang="en-US" sz="220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→ Through deposit policies + pricing optimization</a:t>
            </a:r>
          </a:p>
          <a:p>
            <a:pPr algn="just">
              <a:lnSpc>
                <a:spcPts val="3088"/>
              </a:lnSpc>
              <a:spcBef>
                <a:spcPct val="0"/>
              </a:spcBef>
            </a:pPr>
          </a:p>
          <a:p>
            <a:pPr algn="just">
              <a:lnSpc>
                <a:spcPts val="3088"/>
              </a:lnSpc>
              <a:spcBef>
                <a:spcPct val="0"/>
              </a:spcBef>
            </a:pPr>
            <a:r>
              <a:rPr lang="en-US" b="true" sz="22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Recover ~$3M–$5M in Revenue</a:t>
            </a:r>
          </a:p>
          <a:p>
            <a:pPr algn="just">
              <a:lnSpc>
                <a:spcPts val="3088"/>
              </a:lnSpc>
              <a:spcBef>
                <a:spcPct val="0"/>
              </a:spcBef>
            </a:pPr>
            <a:r>
              <a:rPr lang="en-US" sz="220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→ From current ~$13M revenue loss</a:t>
            </a:r>
          </a:p>
          <a:p>
            <a:pPr algn="just">
              <a:lnSpc>
                <a:spcPts val="3088"/>
              </a:lnSpc>
              <a:spcBef>
                <a:spcPct val="0"/>
              </a:spcBef>
            </a:pPr>
          </a:p>
          <a:p>
            <a:pPr algn="just">
              <a:lnSpc>
                <a:spcPts val="3088"/>
              </a:lnSpc>
              <a:spcBef>
                <a:spcPct val="0"/>
              </a:spcBef>
            </a:pPr>
            <a:r>
              <a:rPr lang="en-US" b="true" sz="22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 Revenue Realization by ~10–15%</a:t>
            </a:r>
          </a:p>
          <a:p>
            <a:pPr algn="just">
              <a:lnSpc>
                <a:spcPts val="3088"/>
              </a:lnSpc>
              <a:spcBef>
                <a:spcPct val="0"/>
              </a:spcBef>
            </a:pPr>
            <a:r>
              <a:rPr lang="en-US" sz="220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→ More bookings convert into actual stays</a:t>
            </a:r>
          </a:p>
          <a:p>
            <a:pPr algn="just">
              <a:lnSpc>
                <a:spcPts val="3088"/>
              </a:lnSpc>
              <a:spcBef>
                <a:spcPct val="0"/>
              </a:spcBef>
            </a:pPr>
          </a:p>
          <a:p>
            <a:pPr algn="just">
              <a:lnSpc>
                <a:spcPts val="3088"/>
              </a:lnSpc>
              <a:spcBef>
                <a:spcPct val="0"/>
              </a:spcBef>
            </a:pPr>
            <a:r>
              <a:rPr lang="en-US" b="true" sz="22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Increase High-Value (Repeat) Customers by 2–3×</a:t>
            </a:r>
          </a:p>
          <a:p>
            <a:pPr algn="just">
              <a:lnSpc>
                <a:spcPts val="3088"/>
              </a:lnSpc>
              <a:spcBef>
                <a:spcPct val="0"/>
              </a:spcBef>
            </a:pPr>
            <a:r>
              <a:rPr lang="en-US" sz="220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→ Lower churn, higher lifetime value</a:t>
            </a:r>
          </a:p>
          <a:p>
            <a:pPr algn="just">
              <a:lnSpc>
                <a:spcPts val="3088"/>
              </a:lnSpc>
              <a:spcBef>
                <a:spcPct val="0"/>
              </a:spcBef>
            </a:pPr>
          </a:p>
          <a:p>
            <a:pPr algn="just">
              <a:lnSpc>
                <a:spcPts val="3088"/>
              </a:lnSpc>
              <a:spcBef>
                <a:spcPct val="0"/>
              </a:spcBef>
            </a:pPr>
            <a:r>
              <a:rPr lang="en-US" b="true" sz="22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Better Demand Predictability</a:t>
            </a:r>
          </a:p>
          <a:p>
            <a:pPr algn="just">
              <a:lnSpc>
                <a:spcPts val="3088"/>
              </a:lnSpc>
              <a:spcBef>
                <a:spcPct val="0"/>
              </a:spcBef>
            </a:pPr>
            <a:r>
              <a:rPr lang="en-US" sz="220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→ Improved inventory &amp; pricing decisions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2657" y="2205910"/>
            <a:ext cx="6030218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Estimated Business Impact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58425" y="2224960"/>
            <a:ext cx="7166744" cy="212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16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Cost of Inaction</a:t>
            </a:r>
          </a:p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162C8F"/>
                </a:solidFill>
                <a:latin typeface="Canva Sans"/>
                <a:ea typeface="Canva Sans"/>
                <a:cs typeface="Canva Sans"/>
                <a:sym typeface="Canva Sans"/>
              </a:rPr>
              <a:t>Continued high revenue leakage (~35–40%)</a:t>
            </a:r>
          </a:p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162C8F"/>
                </a:solidFill>
                <a:latin typeface="Canva Sans"/>
                <a:ea typeface="Canva Sans"/>
                <a:cs typeface="Canva Sans"/>
                <a:sym typeface="Canva Sans"/>
              </a:rPr>
              <a:t>Inefficient pricing → lost profit opportunities</a:t>
            </a:r>
          </a:p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162C8F"/>
                </a:solidFill>
                <a:latin typeface="Canva Sans"/>
                <a:ea typeface="Canva Sans"/>
                <a:cs typeface="Canva Sans"/>
                <a:sym typeface="Canva Sans"/>
              </a:rPr>
              <a:t>Overdependence on high-risk booking channels</a:t>
            </a:r>
          </a:p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162C8F"/>
                </a:solidFill>
                <a:latin typeface="Canva Sans"/>
                <a:ea typeface="Canva Sans"/>
                <a:cs typeface="Canva Sans"/>
                <a:sym typeface="Canva Sans"/>
              </a:rPr>
              <a:t>No control over cancellation-driven volatility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58425" y="4728130"/>
            <a:ext cx="7933532" cy="1722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16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Cost of Why Act Now?</a:t>
            </a:r>
          </a:p>
          <a:p>
            <a:pPr algn="just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162C8F"/>
                </a:solidFill>
                <a:latin typeface="Canva Sans"/>
                <a:ea typeface="Canva Sans"/>
                <a:cs typeface="Canva Sans"/>
                <a:sym typeface="Canva Sans"/>
              </a:rPr>
              <a:t>Small policy changes (deposits, pricing, targeting) can deliver high ROI without major operational cost</a:t>
            </a:r>
          </a:p>
          <a:p>
            <a:pPr algn="just">
              <a:lnSpc>
                <a:spcPts val="321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848166"/>
            <a:ext cx="9144000" cy="8438834"/>
            <a:chOff x="0" y="0"/>
            <a:chExt cx="2408296" cy="22225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2222573"/>
            </a:xfrm>
            <a:custGeom>
              <a:avLst/>
              <a:gdLst/>
              <a:ahLst/>
              <a:cxnLst/>
              <a:rect r="r" b="b" t="t" l="l"/>
              <a:pathLst>
                <a:path h="222257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222573"/>
                  </a:lnTo>
                  <a:lnTo>
                    <a:pt x="0" y="2222573"/>
                  </a:lnTo>
                  <a:close/>
                </a:path>
              </a:pathLst>
            </a:custGeom>
            <a:solidFill>
              <a:srgbClr val="162C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08296" cy="2260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63658" y="416168"/>
            <a:ext cx="11560683" cy="107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35"/>
              </a:lnSpc>
            </a:pPr>
            <a:r>
              <a:rPr lang="en-US" sz="8199" spc="-52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Limitations &amp; Next Steps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2657" y="3180306"/>
            <a:ext cx="8302005" cy="4277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8"/>
              </a:lnSpc>
            </a:pPr>
            <a:r>
              <a:rPr lang="en-US" b="true" sz="22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B</a:t>
            </a:r>
            <a:r>
              <a:rPr lang="en-US" b="true" sz="22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uild Cancellation Prediction Model</a:t>
            </a:r>
          </a:p>
          <a:p>
            <a:pPr algn="just" marL="476315" indent="-238158" lvl="1">
              <a:lnSpc>
                <a:spcPts val="3088"/>
              </a:lnSpc>
              <a:buFont typeface="Arial"/>
              <a:buChar char="•"/>
            </a:pPr>
            <a:r>
              <a:rPr lang="en-US" sz="220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 ML to predict booking-level cancellation probability</a:t>
            </a:r>
          </a:p>
          <a:p>
            <a:pPr algn="just">
              <a:lnSpc>
                <a:spcPts val="3088"/>
              </a:lnSpc>
              <a:spcBef>
                <a:spcPct val="0"/>
              </a:spcBef>
            </a:pPr>
          </a:p>
          <a:p>
            <a:pPr algn="just">
              <a:lnSpc>
                <a:spcPts val="3088"/>
              </a:lnSpc>
              <a:spcBef>
                <a:spcPct val="0"/>
              </a:spcBef>
            </a:pPr>
            <a:r>
              <a:rPr lang="en-US" b="true" sz="22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Real-Time Risk Dashboard</a:t>
            </a:r>
          </a:p>
          <a:p>
            <a:pPr algn="just" marL="476315" indent="-238158" lvl="1">
              <a:lnSpc>
                <a:spcPts val="3088"/>
              </a:lnSpc>
              <a:spcBef>
                <a:spcPct val="0"/>
              </a:spcBef>
              <a:buFont typeface="Arial"/>
              <a:buChar char="•"/>
            </a:pPr>
            <a:r>
              <a:rPr lang="en-US" sz="220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Track live bookings + risk scores for proactive action</a:t>
            </a:r>
          </a:p>
          <a:p>
            <a:pPr algn="just">
              <a:lnSpc>
                <a:spcPts val="3088"/>
              </a:lnSpc>
              <a:spcBef>
                <a:spcPct val="0"/>
              </a:spcBef>
            </a:pPr>
          </a:p>
          <a:p>
            <a:pPr algn="just">
              <a:lnSpc>
                <a:spcPts val="3088"/>
              </a:lnSpc>
              <a:spcBef>
                <a:spcPct val="0"/>
              </a:spcBef>
            </a:pPr>
            <a:r>
              <a:rPr lang="en-US" b="true" sz="22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Integrate External Data</a:t>
            </a:r>
          </a:p>
          <a:p>
            <a:pPr algn="just" marL="476315" indent="-238158" lvl="1">
              <a:lnSpc>
                <a:spcPts val="3088"/>
              </a:lnSpc>
              <a:spcBef>
                <a:spcPct val="0"/>
              </a:spcBef>
              <a:buFont typeface="Arial"/>
              <a:buChar char="•"/>
            </a:pPr>
            <a:r>
              <a:rPr lang="en-US" sz="220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Add seasonality, holidays, local events, competitor pricing</a:t>
            </a:r>
          </a:p>
          <a:p>
            <a:pPr algn="just">
              <a:lnSpc>
                <a:spcPts val="3088"/>
              </a:lnSpc>
              <a:spcBef>
                <a:spcPct val="0"/>
              </a:spcBef>
            </a:pPr>
          </a:p>
          <a:p>
            <a:pPr algn="just">
              <a:lnSpc>
                <a:spcPts val="3088"/>
              </a:lnSpc>
              <a:spcBef>
                <a:spcPct val="0"/>
              </a:spcBef>
            </a:pPr>
            <a:r>
              <a:rPr lang="en-US" b="true" sz="22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A/B Test Business Strategies</a:t>
            </a:r>
          </a:p>
          <a:p>
            <a:pPr algn="just" marL="476315" indent="-238158" lvl="1">
              <a:lnSpc>
                <a:spcPts val="308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 deposit policies, pricing changes, loyalty offers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2657" y="2205910"/>
            <a:ext cx="241615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</a:t>
            </a:r>
            <a:r>
              <a:rPr lang="en-US" b="true" sz="3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 Steps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58425" y="2224960"/>
            <a:ext cx="8429575" cy="2922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16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Limi</a:t>
            </a:r>
            <a:r>
              <a:rPr lang="en-US" b="true" sz="3099">
                <a:solidFill>
                  <a:srgbClr val="16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tations</a:t>
            </a:r>
          </a:p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162C8F"/>
                </a:solidFill>
                <a:latin typeface="Canva Sans"/>
                <a:ea typeface="Canva Sans"/>
                <a:cs typeface="Canva Sans"/>
                <a:sym typeface="Canva Sans"/>
              </a:rPr>
              <a:t>No customer-level behavioral data (income, preferences, intent)</a:t>
            </a:r>
          </a:p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162C8F"/>
                </a:solidFill>
                <a:latin typeface="Canva Sans"/>
                <a:ea typeface="Canva Sans"/>
                <a:cs typeface="Canva Sans"/>
                <a:sym typeface="Canva Sans"/>
              </a:rPr>
              <a:t>Limited visibility into external factors (seasonality, events, competition pricing)</a:t>
            </a:r>
          </a:p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162C8F"/>
                </a:solidFill>
                <a:latin typeface="Canva Sans"/>
                <a:ea typeface="Canva Sans"/>
                <a:cs typeface="Canva Sans"/>
                <a:sym typeface="Canva Sans"/>
              </a:rPr>
              <a:t>Assumes historical patterns remain consistent</a:t>
            </a:r>
          </a:p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162C8F"/>
                </a:solidFill>
                <a:latin typeface="Canva Sans"/>
                <a:ea typeface="Canva Sans"/>
                <a:cs typeface="Canva Sans"/>
                <a:sym typeface="Canva Sans"/>
              </a:rPr>
              <a:t>No real-time tracking → insights are post-analysis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58425" y="5655974"/>
            <a:ext cx="7933532" cy="25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16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these slides are strong:</a:t>
            </a:r>
          </a:p>
          <a:p>
            <a:pPr algn="just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162C8F"/>
                </a:solidFill>
                <a:latin typeface="Canva Sans"/>
                <a:ea typeface="Canva Sans"/>
                <a:cs typeface="Canva Sans"/>
                <a:sym typeface="Canva Sans"/>
              </a:rPr>
              <a:t>Qu</a:t>
            </a:r>
            <a:r>
              <a:rPr lang="en-US" sz="2299">
                <a:solidFill>
                  <a:srgbClr val="162C8F"/>
                </a:solidFill>
                <a:latin typeface="Canva Sans"/>
                <a:ea typeface="Canva Sans"/>
                <a:cs typeface="Canva Sans"/>
                <a:sym typeface="Canva Sans"/>
              </a:rPr>
              <a:t>antifies impact (judges care about numbers)</a:t>
            </a:r>
          </a:p>
          <a:p>
            <a:pPr algn="just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162C8F"/>
                </a:solidFill>
                <a:latin typeface="Canva Sans"/>
                <a:ea typeface="Canva Sans"/>
                <a:cs typeface="Canva Sans"/>
                <a:sym typeface="Canva Sans"/>
              </a:rPr>
              <a:t>Shows clear business value</a:t>
            </a:r>
          </a:p>
          <a:p>
            <a:pPr algn="just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162C8F"/>
                </a:solidFill>
                <a:latin typeface="Canva Sans"/>
                <a:ea typeface="Canva Sans"/>
                <a:cs typeface="Canva Sans"/>
                <a:sym typeface="Canva Sans"/>
              </a:rPr>
              <a:t>Acknowledges limitations (adds credibility)</a:t>
            </a:r>
          </a:p>
          <a:p>
            <a:pPr algn="just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162C8F"/>
                </a:solidFill>
                <a:latin typeface="Canva Sans"/>
                <a:ea typeface="Canva Sans"/>
                <a:cs typeface="Canva Sans"/>
                <a:sym typeface="Canva Sans"/>
              </a:rPr>
              <a:t>Ends with forward-looking execution plan</a:t>
            </a:r>
          </a:p>
          <a:p>
            <a:pPr algn="just">
              <a:lnSpc>
                <a:spcPts val="321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08787" y="4327652"/>
            <a:ext cx="5070425" cy="1460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14"/>
              </a:lnSpc>
              <a:spcBef>
                <a:spcPct val="0"/>
              </a:spcBef>
            </a:pPr>
            <a:r>
              <a:rPr lang="en-US" b="true" sz="8510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DAHIEJxIo9E</dc:identifier>
  <dcterms:modified xsi:type="dcterms:W3CDTF">2011-08-01T06:04:30Z</dcterms:modified>
  <cp:revision>1</cp:revision>
  <dc:title>Hotel Booking Demand Analysis</dc:title>
</cp:coreProperties>
</file>